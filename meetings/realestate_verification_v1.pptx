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data.go.kr/data/15126468/openapi.do" TargetMode="External"/><Relationship Id="rId3" Type="http://schemas.openxmlformats.org/officeDocument/2006/relationships/hyperlink" Target="https://www.data.go.kr/data/15126474/openapi.do" TargetMode="External"/><Relationship Id="rId4" Type="http://schemas.openxmlformats.org/officeDocument/2006/relationships/hyperlink" Target="https://www.data.go.kr/data/15126467/openapi.do" TargetMode="External"/><Relationship Id="rId5" Type="http://schemas.openxmlformats.org/officeDocument/2006/relationships/hyperlink" Target="https://www.data.go.kr/data/15126464/openapi.do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data.go.kr/data/15101106/openapi.do" TargetMode="External"/><Relationship Id="rId3" Type="http://schemas.openxmlformats.org/officeDocument/2006/relationships/hyperlink" Target="https://www.data.go.kr/data/15098554/openapi.do" TargetMode="External"/><Relationship Id="rId4" Type="http://schemas.openxmlformats.org/officeDocument/2006/relationships/hyperlink" Target="https://www.data.go.kr/data/15142030/openapi.do" TargetMode="External"/><Relationship Id="rId5" Type="http://schemas.openxmlformats.org/officeDocument/2006/relationships/hyperlink" Target="https://data.seoul.go.kr/dataList/OA-15067/S/1/datasetView.do" TargetMode="External"/><Relationship Id="rId6" Type="http://schemas.openxmlformats.org/officeDocument/2006/relationships/hyperlink" Target="https://www.data.go.kr/data/15021148/standard.do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data.go.kr/data/15114138/standard.do" TargetMode="External"/><Relationship Id="rId3" Type="http://schemas.openxmlformats.org/officeDocument/2006/relationships/hyperlink" Target="https://www.data.go.kr/data/15012890/standard.do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data.go.kr/data/15101046/fileData.do" TargetMode="External"/><Relationship Id="rId3" Type="http://schemas.openxmlformats.org/officeDocument/2006/relationships/hyperlink" Target="https://www.data.go.kr/data/15110988/fileData.do" TargetMode="External"/><Relationship Id="rId4" Type="http://schemas.openxmlformats.org/officeDocument/2006/relationships/hyperlink" Target="https://data.seoul.go.kr/dataList/OA-22856/L/1/datasetView.do" TargetMode="External"/><Relationship Id="rId5" Type="http://schemas.openxmlformats.org/officeDocument/2006/relationships/hyperlink" Target="https://kosis.kr/openapi/" TargetMode="External"/><Relationship Id="rId6" Type="http://schemas.openxmlformats.org/officeDocument/2006/relationships/hyperlink" Target="https://www.data.go.kr/data/15097974/fileData.do" TargetMode="External"/><Relationship Id="rId7" Type="http://schemas.openxmlformats.org/officeDocument/2006/relationships/hyperlink" Target="https://ecos.bok.or.kr/api/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hub.go.kr/portal/psg/idx-intro-openApi.do" TargetMode="External"/><Relationship Id="rId3" Type="http://schemas.openxmlformats.org/officeDocument/2006/relationships/hyperlink" Target="https://www.data.go.kr/data/15058453/openapi.do" TargetMode="External"/><Relationship Id="rId4" Type="http://schemas.openxmlformats.org/officeDocument/2006/relationships/hyperlink" Target="https://www.data.go.kr/tcs/dss/selectApiDataDetailView.do?publicDataPk=15073861" TargetMode="External"/><Relationship Id="rId5" Type="http://schemas.openxmlformats.org/officeDocument/2006/relationships/hyperlink" Target="https://www.data.go.kr/data/15073877/openapi.do" TargetMode="External"/><Relationship Id="rId6" Type="http://schemas.openxmlformats.org/officeDocument/2006/relationships/hyperlink" Target="https://www.data.go.kr/data/15058180/openapi.do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5486400" cy="292608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r>
              <a:rPr sz="1000" b="1">
                <a:solidFill>
                  <a:srgbClr val="CADCFC"/>
                </a:solidFill>
              </a:rPr>
              <a:t>PAGE 1 /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37160"/>
            <a:ext cx="5422392" cy="292608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/>
            <a:r>
              <a:rPr sz="1000" b="0">
                <a:solidFill>
                  <a:srgbClr val="CADCFC"/>
                </a:solidFill>
              </a:rPr>
              <a:t>부동산 검증 AI 에이전트  ·  본인 시안 (Sunny)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6858000" cy="6400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r>
              <a:rPr sz="3000" b="1">
                <a:solidFill>
                  <a:srgbClr val="1E2761"/>
                </a:solidFill>
              </a:rPr>
              <a:t>CARD 1.  시세 분석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54480"/>
            <a:ext cx="6858000" cy="4114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r>
              <a:rPr sz="1400" b="0">
                <a:solidFill>
                  <a:srgbClr val="777780"/>
                </a:solidFill>
              </a:rPr>
              <a:t>이 호가, 적정한가?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79" y="868680"/>
            <a:ext cx="3840480" cy="1325880"/>
          </a:xfrm>
          <a:prstGeom prst="roundRect">
            <a:avLst>
              <a:gd name="adj" fmla="val 12000"/>
            </a:avLst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79" y="960120"/>
            <a:ext cx="3840480" cy="5029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/>
            <a:r>
              <a:rPr sz="2600" b="1">
                <a:solidFill>
                  <a:srgbClr val="1E2761"/>
                </a:solidFill>
              </a:rPr>
              <a:t>★★★☆☆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79" y="1417320"/>
            <a:ext cx="3840480" cy="4114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/>
            <a:r>
              <a:rPr sz="2200" b="1">
                <a:solidFill>
                  <a:srgbClr val="1E2761"/>
                </a:solidFill>
              </a:rPr>
              <a:t>3.2 / 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79" y="1856231"/>
            <a:ext cx="3840480" cy="3200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/>
            <a:r>
              <a:rPr sz="1000" b="0">
                <a:solidFill>
                  <a:srgbClr val="2C2C35"/>
                </a:solidFill>
              </a:rPr>
              <a:t>회귀 잔차 +18%, 거품 추정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423160"/>
            <a:ext cx="45720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r>
              <a:rPr sz="1500" b="1">
                <a:solidFill>
                  <a:srgbClr val="1E2761"/>
                </a:solidFill>
              </a:rPr>
              <a:t>분석 방식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743200"/>
            <a:ext cx="457200" cy="36576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926080"/>
            <a:ext cx="566928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r>
              <a:rPr sz="1200" b="0">
                <a:solidFill>
                  <a:srgbClr val="2C2C35"/>
                </a:solidFill>
              </a:rPr>
              <a:t>•  인근 단지 회귀로 적정가 추정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310128"/>
            <a:ext cx="566928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r>
              <a:rPr sz="1200" b="0">
                <a:solidFill>
                  <a:srgbClr val="2C2C35"/>
                </a:solidFill>
              </a:rPr>
              <a:t>•  실거래가 vs 호가 간극 측정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694176"/>
            <a:ext cx="566928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r>
              <a:rPr sz="1200" b="0">
                <a:solidFill>
                  <a:srgbClr val="2C2C35"/>
                </a:solidFill>
              </a:rPr>
              <a:t>•  5년 가격 추이 시계열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078224"/>
            <a:ext cx="566928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r>
              <a:rPr sz="1200" b="0">
                <a:solidFill>
                  <a:srgbClr val="2C2C35"/>
                </a:solidFill>
              </a:rPr>
              <a:t>•  임대수익 환원율 비교 → 자본이득 기대치 분리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462272"/>
            <a:ext cx="566928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r>
              <a:rPr sz="1200" b="0">
                <a:solidFill>
                  <a:srgbClr val="2C2C35"/>
                </a:solidFill>
              </a:rPr>
              <a:t>•  호재 의존도 분해 (회귀 잔차 + 이벤트 스터디)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423160"/>
            <a:ext cx="54864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r>
              <a:rPr sz="1500" b="1">
                <a:solidFill>
                  <a:srgbClr val="1E2761"/>
                </a:solidFill>
              </a:rPr>
              <a:t>데이터 출처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2743200"/>
            <a:ext cx="457200" cy="36576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2926080"/>
            <a:ext cx="5394960" cy="256032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r>
              <a:rPr sz="1050" b="1">
                <a:solidFill>
                  <a:srgbClr val="2C2C35"/>
                </a:solidFill>
              </a:rPr>
              <a:t>•  국토부 아파트 매매 실거래가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3127248"/>
            <a:ext cx="5212080" cy="22860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r>
              <a:rPr sz="850">
                <a:solidFill>
                  <a:srgbClr val="1E2761"/>
                </a:solidFill>
                <a:hlinkClick r:id="rId2"/>
              </a:rPr>
              <a:t>https://www.data.go.kr/data/15126468/openapi.do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3346704"/>
            <a:ext cx="5394960" cy="256032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r>
              <a:rPr sz="1050" b="1">
                <a:solidFill>
                  <a:srgbClr val="2C2C35"/>
                </a:solidFill>
              </a:rPr>
              <a:t>•  국토부 아파트 전월세 실거래가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3547872"/>
            <a:ext cx="5212080" cy="22860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r>
              <a:rPr sz="850">
                <a:solidFill>
                  <a:srgbClr val="1E2761"/>
                </a:solidFill>
                <a:hlinkClick r:id="rId3"/>
              </a:rPr>
              <a:t>https://www.data.go.kr/data/15126474/openapi.do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3767328"/>
            <a:ext cx="5394960" cy="256032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r>
              <a:rPr sz="1050" b="1">
                <a:solidFill>
                  <a:srgbClr val="2C2C35"/>
                </a:solidFill>
              </a:rPr>
              <a:t>•  국토부 연립다세대 매매 실거래가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3968496"/>
            <a:ext cx="5212080" cy="22860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r>
              <a:rPr sz="850">
                <a:solidFill>
                  <a:srgbClr val="1E2761"/>
                </a:solidFill>
                <a:hlinkClick r:id="rId4"/>
              </a:rPr>
              <a:t>https://www.data.go.kr/data/15126467/openapi.do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4187952"/>
            <a:ext cx="5394960" cy="256032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r>
              <a:rPr sz="1050" b="1">
                <a:solidFill>
                  <a:srgbClr val="2C2C35"/>
                </a:solidFill>
              </a:rPr>
              <a:t>•  국토부 오피스텔 매매 실거래가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4389120"/>
            <a:ext cx="5212080" cy="22860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r>
              <a:rPr sz="850">
                <a:solidFill>
                  <a:srgbClr val="1E2761"/>
                </a:solidFill>
                <a:hlinkClick r:id="rId5"/>
              </a:rPr>
              <a:t>https://www.data.go.kr/data/15126464/openapi.do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5074920"/>
            <a:ext cx="11338560" cy="1371600"/>
          </a:xfrm>
          <a:prstGeom prst="roundRect">
            <a:avLst>
              <a:gd name="adj" fmla="val 8000"/>
            </a:avLst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" y="5212080"/>
            <a:ext cx="109728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r>
              <a:rPr sz="1300" b="1">
                <a:solidFill>
                  <a:srgbClr val="1E2761"/>
                </a:solidFill>
              </a:rPr>
              <a:t>⚡  트리거 패턴 (적응형 정보 깊이)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5800" y="5623560"/>
            <a:ext cx="5440680" cy="6858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5687568"/>
            <a:ext cx="45720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r>
              <a:rPr sz="1400" b="1">
                <a:solidFill>
                  <a:srgbClr val="2E8B57"/>
                </a:solidFill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80160" y="5687568"/>
            <a:ext cx="475488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r>
              <a:rPr sz="1000" b="1">
                <a:solidFill>
                  <a:srgbClr val="2E8B57"/>
                </a:solidFill>
              </a:rPr>
              <a:t>정상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80160" y="5897880"/>
            <a:ext cx="475488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r>
              <a:rPr sz="1000" b="0">
                <a:solidFill>
                  <a:srgbClr val="2C2C35"/>
                </a:solidFill>
              </a:rPr>
              <a:t>잔차 &lt; 10% → "호가 적정 ✓" 한 줄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63640" y="5623560"/>
            <a:ext cx="5440680" cy="6858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46520" y="5687568"/>
            <a:ext cx="45720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r>
              <a:rPr sz="1400" b="1">
                <a:solidFill>
                  <a:srgbClr val="E67E22"/>
                </a:solidFill>
              </a:rPr>
              <a:t>⚠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0" y="5687568"/>
            <a:ext cx="475488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r>
              <a:rPr sz="1000" b="1">
                <a:solidFill>
                  <a:srgbClr val="E67E22"/>
                </a:solidFill>
              </a:rPr>
              <a:t>이상 트리거 시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0" y="5897880"/>
            <a:ext cx="475488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r>
              <a:rPr sz="1000" b="0">
                <a:solidFill>
                  <a:srgbClr val="2C2C35"/>
                </a:solidFill>
              </a:rPr>
              <a:t>잔차 ≥ 10% → 호가 거품 분해 표시 (기본가치 + 단지 특수성 + 잔여 프리미엄)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5760" y="6537960"/>
            <a:ext cx="11430000" cy="2286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/>
            <a:r>
              <a:rPr sz="800" b="0">
                <a:solidFill>
                  <a:srgbClr val="777780"/>
                </a:solidFill>
              </a:rPr>
              <a:t>※ 시연용 가상 매물 (노원 OO아파트 1203호) · 모든 데이터는 공공 OpenAPI · LLM 할루시네이션 0%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5486400" cy="292608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r>
              <a:rPr sz="1000" b="1">
                <a:solidFill>
                  <a:srgbClr val="CADCFC"/>
                </a:solidFill>
              </a:rPr>
              <a:t>PAGE 2 /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37160"/>
            <a:ext cx="5422392" cy="292608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/>
            <a:r>
              <a:rPr sz="1000" b="0">
                <a:solidFill>
                  <a:srgbClr val="CADCFC"/>
                </a:solidFill>
              </a:rPr>
              <a:t>부동산 검증 AI 에이전트  ·  본인 시안 (Sunny)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6858000" cy="6400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r>
              <a:rPr sz="3000" b="1">
                <a:solidFill>
                  <a:srgbClr val="1E2761"/>
                </a:solidFill>
              </a:rPr>
              <a:t>CARD 2.  입지 분석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54480"/>
            <a:ext cx="6858000" cy="4114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r>
              <a:rPr sz="1400" b="0">
                <a:solidFill>
                  <a:srgbClr val="777780"/>
                </a:solidFill>
              </a:rPr>
              <a:t>영업 멘트가 진짜인가? (도보 거리·환승 가능성으로 검증)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79" y="868680"/>
            <a:ext cx="3840480" cy="1325880"/>
          </a:xfrm>
          <a:prstGeom prst="roundRect">
            <a:avLst>
              <a:gd name="adj" fmla="val 12000"/>
            </a:avLst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79" y="960120"/>
            <a:ext cx="3840480" cy="5029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/>
            <a:r>
              <a:rPr sz="2600" b="1">
                <a:solidFill>
                  <a:srgbClr val="1E2761"/>
                </a:solidFill>
              </a:rPr>
              <a:t>★★★★☆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79" y="1417320"/>
            <a:ext cx="3840480" cy="4114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/>
            <a:r>
              <a:rPr sz="2200" b="1">
                <a:solidFill>
                  <a:srgbClr val="1E2761"/>
                </a:solidFill>
              </a:rPr>
              <a:t>4.5 / 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79" y="1856231"/>
            <a:ext cx="3840480" cy="3200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/>
            <a:r>
              <a:rPr sz="1000" b="0">
                <a:solidFill>
                  <a:srgbClr val="2C2C35"/>
                </a:solidFill>
              </a:rPr>
              <a:t>도보 5분 역세권, 학교 인접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423160"/>
            <a:ext cx="45720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r>
              <a:rPr sz="1500" b="1">
                <a:solidFill>
                  <a:srgbClr val="1E2761"/>
                </a:solidFill>
              </a:rPr>
              <a:t>분석 방식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743200"/>
            <a:ext cx="457200" cy="36576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926080"/>
            <a:ext cx="566928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r>
              <a:rPr sz="1200" b="0">
                <a:solidFill>
                  <a:srgbClr val="2C2C35"/>
                </a:solidFill>
              </a:rPr>
              <a:t>•  매물 주소 좌표 변환 후 도보 거리 산출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310128"/>
            <a:ext cx="566928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r>
              <a:rPr sz="1200" b="0">
                <a:solidFill>
                  <a:srgbClr val="2C2C35"/>
                </a:solidFill>
              </a:rPr>
              <a:t>•  가장 가까운 지하철역까지 시간·환승 가능성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694176"/>
            <a:ext cx="566928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r>
              <a:rPr sz="1200" b="0">
                <a:solidFill>
                  <a:srgbClr val="2C2C35"/>
                </a:solidFill>
              </a:rPr>
              <a:t>•  버스 노선 다양성·배차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078224"/>
            <a:ext cx="566928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r>
              <a:rPr sz="1200" b="0">
                <a:solidFill>
                  <a:srgbClr val="2C2C35"/>
                </a:solidFill>
              </a:rPr>
              <a:t>•  초·중·고 학교까지 거리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462272"/>
            <a:ext cx="566928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r>
              <a:rPr sz="1200" b="0">
                <a:solidFill>
                  <a:srgbClr val="2C2C35"/>
                </a:solidFill>
              </a:rPr>
              <a:t>•  (선택) 사용자 회사 위치 → 출퇴근 시간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423160"/>
            <a:ext cx="54864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r>
              <a:rPr sz="1500" b="1">
                <a:solidFill>
                  <a:srgbClr val="1E2761"/>
                </a:solidFill>
              </a:rPr>
              <a:t>데이터 출처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2743200"/>
            <a:ext cx="457200" cy="36576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2926080"/>
            <a:ext cx="5394960" cy="256032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r>
              <a:rPr sz="1050" b="1">
                <a:solidFill>
                  <a:srgbClr val="2C2C35"/>
                </a:solidFill>
              </a:rPr>
              <a:t>•  VWorld 지오코더 (주소↔좌표)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3127248"/>
            <a:ext cx="5212080" cy="22860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r>
              <a:rPr sz="850">
                <a:solidFill>
                  <a:srgbClr val="1E2761"/>
                </a:solidFill>
                <a:hlinkClick r:id="rId2"/>
              </a:rPr>
              <a:t>https://www.data.go.kr/data/15101106/openapi.do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3346704"/>
            <a:ext cx="5394960" cy="256032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r>
              <a:rPr sz="1050" b="1">
                <a:solidFill>
                  <a:srgbClr val="2C2C35"/>
                </a:solidFill>
              </a:rPr>
              <a:t>•  TAGO 지하철정보 (역·출구·시간표)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3547872"/>
            <a:ext cx="5212080" cy="22860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r>
              <a:rPr sz="850">
                <a:solidFill>
                  <a:srgbClr val="1E2761"/>
                </a:solidFill>
                <a:hlinkClick r:id="rId3"/>
              </a:rPr>
              <a:t>https://www.data.go.kr/data/15098554/openapi.do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3767328"/>
            <a:ext cx="5394960" cy="256032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r>
              <a:rPr sz="1050" b="1">
                <a:solidFill>
                  <a:srgbClr val="2C2C35"/>
                </a:solidFill>
              </a:rPr>
              <a:t>•  국토부 버스노선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3968496"/>
            <a:ext cx="5212080" cy="22860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r>
              <a:rPr sz="850">
                <a:solidFill>
                  <a:srgbClr val="1E2761"/>
                </a:solidFill>
                <a:hlinkClick r:id="rId4"/>
              </a:rPr>
              <a:t>https://www.data.go.kr/data/15142030/openapi.do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4187952"/>
            <a:ext cx="5394960" cy="256032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r>
              <a:rPr sz="1050" b="1">
                <a:solidFill>
                  <a:srgbClr val="2C2C35"/>
                </a:solidFill>
              </a:rPr>
              <a:t>•  서울시 버스정류소 위치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4389120"/>
            <a:ext cx="5212080" cy="22860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r>
              <a:rPr sz="850">
                <a:solidFill>
                  <a:srgbClr val="1E2761"/>
                </a:solidFill>
                <a:hlinkClick r:id="rId5"/>
              </a:rPr>
              <a:t>https://data.seoul.go.kr/dataList/OA-15067/S/1/datasetView.do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4608576"/>
            <a:ext cx="5394960" cy="256032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r>
              <a:rPr sz="1050" b="1">
                <a:solidFill>
                  <a:srgbClr val="2C2C35"/>
                </a:solidFill>
              </a:rPr>
              <a:t>•  전국 초중등학교 위치 표준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4809744"/>
            <a:ext cx="5212080" cy="22860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r>
              <a:rPr sz="850">
                <a:solidFill>
                  <a:srgbClr val="1E2761"/>
                </a:solidFill>
                <a:hlinkClick r:id="rId6"/>
              </a:rPr>
              <a:t>https://www.data.go.kr/data/15021148/standard.do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5074920"/>
            <a:ext cx="11338560" cy="1371600"/>
          </a:xfrm>
          <a:prstGeom prst="roundRect">
            <a:avLst>
              <a:gd name="adj" fmla="val 8000"/>
            </a:avLst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5212080"/>
            <a:ext cx="109728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r>
              <a:rPr sz="1300" b="1">
                <a:solidFill>
                  <a:srgbClr val="1E2761"/>
                </a:solidFill>
              </a:rPr>
              <a:t>⚡  트리거 패턴 (적응형 정보 깊이)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85800" y="5623560"/>
            <a:ext cx="5440680" cy="6858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68680" y="5687568"/>
            <a:ext cx="45720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r>
              <a:rPr sz="1400" b="1">
                <a:solidFill>
                  <a:srgbClr val="2E8B57"/>
                </a:solidFill>
              </a:rPr>
              <a:t>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5687568"/>
            <a:ext cx="475488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r>
              <a:rPr sz="1000" b="1">
                <a:solidFill>
                  <a:srgbClr val="2E8B57"/>
                </a:solidFill>
              </a:rPr>
              <a:t>정상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80160" y="5897880"/>
            <a:ext cx="475488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r>
              <a:rPr sz="1000" b="0">
                <a:solidFill>
                  <a:srgbClr val="2C2C35"/>
                </a:solidFill>
              </a:rPr>
              <a:t>객관 거리 항상 표시 (트리거 패턴 미적용)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63640" y="5623560"/>
            <a:ext cx="5440680" cy="6858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46520" y="5687568"/>
            <a:ext cx="45720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r>
              <a:rPr sz="1400" b="1">
                <a:solidFill>
                  <a:srgbClr val="E67E22"/>
                </a:solidFill>
              </a:rPr>
              <a:t>⚠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5687568"/>
            <a:ext cx="475488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r>
              <a:rPr sz="1000" b="1">
                <a:solidFill>
                  <a:srgbClr val="E67E22"/>
                </a:solidFill>
              </a:rPr>
              <a:t>이상 트리거 시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0" y="5897880"/>
            <a:ext cx="475488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r>
              <a:rPr sz="1000" b="0">
                <a:solidFill>
                  <a:srgbClr val="2C2C35"/>
                </a:solidFill>
              </a:rPr>
              <a:t>— (입지는 객관 거리만 보여주는 영역)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5760" y="6537960"/>
            <a:ext cx="11430000" cy="2286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/>
            <a:r>
              <a:rPr sz="800" b="0">
                <a:solidFill>
                  <a:srgbClr val="777780"/>
                </a:solidFill>
              </a:rPr>
              <a:t>※ 시연용 가상 매물 (노원 OO아파트 1203호) · 모든 데이터는 공공 OpenAPI · LLM 할루시네이션 0%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5486400" cy="292608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r>
              <a:rPr sz="1000" b="1">
                <a:solidFill>
                  <a:srgbClr val="CADCFC"/>
                </a:solidFill>
              </a:rPr>
              <a:t>PAGE 3 /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37160"/>
            <a:ext cx="5422392" cy="292608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/>
            <a:r>
              <a:rPr sz="1000" b="0">
                <a:solidFill>
                  <a:srgbClr val="CADCFC"/>
                </a:solidFill>
              </a:rPr>
              <a:t>부동산 검증 AI 에이전트  ·  본인 시안 (Sunny)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6858000" cy="6400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r>
              <a:rPr sz="3000" b="1">
                <a:solidFill>
                  <a:srgbClr val="1E2761"/>
                </a:solidFill>
              </a:rPr>
              <a:t>CARD 3.  생활 편의성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54480"/>
            <a:ext cx="6858000" cy="4114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r>
              <a:rPr sz="1400" b="0">
                <a:solidFill>
                  <a:srgbClr val="777780"/>
                </a:solidFill>
              </a:rPr>
              <a:t>동네에서 살 만한가?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79" y="868680"/>
            <a:ext cx="3840480" cy="1325880"/>
          </a:xfrm>
          <a:prstGeom prst="roundRect">
            <a:avLst>
              <a:gd name="adj" fmla="val 12000"/>
            </a:avLst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79" y="960120"/>
            <a:ext cx="3840480" cy="5029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/>
            <a:r>
              <a:rPr sz="2600" b="1">
                <a:solidFill>
                  <a:srgbClr val="1E2761"/>
                </a:solidFill>
              </a:rPr>
              <a:t>★★★★☆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79" y="1417320"/>
            <a:ext cx="3840480" cy="4114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/>
            <a:r>
              <a:rPr sz="2200" b="1">
                <a:solidFill>
                  <a:srgbClr val="1E2761"/>
                </a:solidFill>
              </a:rPr>
              <a:t>3.8 / 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79" y="1856231"/>
            <a:ext cx="3840480" cy="3200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/>
            <a:r>
              <a:rPr sz="1000" b="0">
                <a:solidFill>
                  <a:srgbClr val="2C2C35"/>
                </a:solidFill>
              </a:rPr>
              <a:t>마트 750m, 공원 인접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423160"/>
            <a:ext cx="45720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r>
              <a:rPr sz="1500" b="1">
                <a:solidFill>
                  <a:srgbClr val="1E2761"/>
                </a:solidFill>
              </a:rPr>
              <a:t>분석 방식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743200"/>
            <a:ext cx="457200" cy="36576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926080"/>
            <a:ext cx="566928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r>
              <a:rPr sz="1200" b="0">
                <a:solidFill>
                  <a:srgbClr val="2C2C35"/>
                </a:solidFill>
              </a:rPr>
              <a:t>•  인근 대형마트·백화점·복합쇼핑몰 거리·개수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310128"/>
            <a:ext cx="566928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r>
              <a:rPr sz="1200" b="0">
                <a:solidFill>
                  <a:srgbClr val="2C2C35"/>
                </a:solidFill>
              </a:rPr>
              <a:t>•  도시공원·녹지 접근성·면적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694176"/>
            <a:ext cx="566928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r>
              <a:rPr sz="1200" b="0">
                <a:solidFill>
                  <a:srgbClr val="2C2C35"/>
                </a:solidFill>
              </a:rPr>
              <a:t>•  (검증된 표준데이터셋만 시연)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078224"/>
            <a:ext cx="566928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r>
              <a:rPr sz="1200" b="0">
                <a:solidFill>
                  <a:srgbClr val="2C2C35"/>
                </a:solidFill>
              </a:rPr>
              <a:t>•  ※ 디지털 임장(배달앱·맘카페·야간 환경)은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462272"/>
            <a:ext cx="566928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r>
              <a:rPr sz="1200" b="0">
                <a:solidFill>
                  <a:srgbClr val="2C2C35"/>
                </a:solidFill>
              </a:rPr>
              <a:t>•     시스템 범위 밖 — 임장으로 위임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423160"/>
            <a:ext cx="54864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r>
              <a:rPr sz="1500" b="1">
                <a:solidFill>
                  <a:srgbClr val="1E2761"/>
                </a:solidFill>
              </a:rPr>
              <a:t>데이터 출처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2743200"/>
            <a:ext cx="457200" cy="36576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2926080"/>
            <a:ext cx="5394960" cy="256032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r>
              <a:rPr sz="1050" b="1">
                <a:solidFill>
                  <a:srgbClr val="2C2C35"/>
                </a:solidFill>
              </a:rPr>
              <a:t>•  전국 대규모점포 표준데이터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3127248"/>
            <a:ext cx="5212080" cy="22860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r>
              <a:rPr sz="850">
                <a:solidFill>
                  <a:srgbClr val="1E2761"/>
                </a:solidFill>
                <a:hlinkClick r:id="rId2"/>
              </a:rPr>
              <a:t>https://www.data.go.kr/data/15114138/standard.do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3346704"/>
            <a:ext cx="5394960" cy="256032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r>
              <a:rPr sz="1050" b="1">
                <a:solidFill>
                  <a:srgbClr val="2C2C35"/>
                </a:solidFill>
              </a:rPr>
              <a:t>•  전국 도시공원 정보 표준데이터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3547872"/>
            <a:ext cx="5212080" cy="22860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r>
              <a:rPr sz="850">
                <a:solidFill>
                  <a:srgbClr val="1E2761"/>
                </a:solidFill>
                <a:hlinkClick r:id="rId3"/>
              </a:rPr>
              <a:t>https://www.data.go.kr/data/15012890/standard.do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5074920"/>
            <a:ext cx="11338560" cy="1371600"/>
          </a:xfrm>
          <a:prstGeom prst="roundRect">
            <a:avLst>
              <a:gd name="adj" fmla="val 8000"/>
            </a:avLst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5212080"/>
            <a:ext cx="109728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r>
              <a:rPr sz="1300" b="1">
                <a:solidFill>
                  <a:srgbClr val="1E2761"/>
                </a:solidFill>
              </a:rPr>
              <a:t>⚡  트리거 패턴 (적응형 정보 깊이)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" y="5623560"/>
            <a:ext cx="5440680" cy="6858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" y="5687568"/>
            <a:ext cx="45720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r>
              <a:rPr sz="1400" b="1">
                <a:solidFill>
                  <a:srgbClr val="2E8B57"/>
                </a:solidFill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80160" y="5687568"/>
            <a:ext cx="475488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r>
              <a:rPr sz="1000" b="1">
                <a:solidFill>
                  <a:srgbClr val="2E8B57"/>
                </a:solidFill>
              </a:rPr>
              <a:t>정상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80160" y="5897880"/>
            <a:ext cx="475488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r>
              <a:rPr sz="1000" b="0">
                <a:solidFill>
                  <a:srgbClr val="2C2C35"/>
                </a:solidFill>
              </a:rPr>
              <a:t>인프라 인접 → "생활 편의 양호 ✓"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63640" y="5623560"/>
            <a:ext cx="5440680" cy="6858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46520" y="5687568"/>
            <a:ext cx="45720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r>
              <a:rPr sz="1400" b="1">
                <a:solidFill>
                  <a:srgbClr val="E67E22"/>
                </a:solidFill>
              </a:rPr>
              <a:t>⚠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5687568"/>
            <a:ext cx="475488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r>
              <a:rPr sz="1000" b="1">
                <a:solidFill>
                  <a:srgbClr val="E67E22"/>
                </a:solidFill>
              </a:rPr>
              <a:t>이상 트리거 시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0" y="5897880"/>
            <a:ext cx="475488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r>
              <a:rPr sz="1000" b="0">
                <a:solidFill>
                  <a:srgbClr val="2C2C35"/>
                </a:solidFill>
              </a:rPr>
              <a:t>인프라 부족 → 거리 표시 (예: "마트 1.2km / 공원 미해당")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" y="6537960"/>
            <a:ext cx="11430000" cy="2286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/>
            <a:r>
              <a:rPr sz="800" b="0">
                <a:solidFill>
                  <a:srgbClr val="777780"/>
                </a:solidFill>
              </a:rPr>
              <a:t>※ 시연용 가상 매물 (노원 OO아파트 1203호) · 모든 데이터는 공공 OpenAPI · LLM 할루시네이션 0%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5486400" cy="292608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r>
              <a:rPr sz="1000" b="1">
                <a:solidFill>
                  <a:srgbClr val="CADCFC"/>
                </a:solidFill>
              </a:rPr>
              <a:t>PAGE 4 /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37160"/>
            <a:ext cx="5422392" cy="292608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/>
            <a:r>
              <a:rPr sz="1000" b="0">
                <a:solidFill>
                  <a:srgbClr val="CADCFC"/>
                </a:solidFill>
              </a:rPr>
              <a:t>부동산 검증 AI 에이전트  ·  본인 시안 (Sunny)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6858000" cy="6400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r>
              <a:rPr sz="3000" b="1">
                <a:solidFill>
                  <a:srgbClr val="1E2761"/>
                </a:solidFill>
              </a:rPr>
              <a:t>CARD 4.  미래 가치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54480"/>
            <a:ext cx="6858000" cy="4114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r>
              <a:rPr sz="1400" b="0">
                <a:solidFill>
                  <a:srgbClr val="777780"/>
                </a:solidFill>
              </a:rPr>
              <a:t>5~10년 뒤 가치는? (호재 예언이 아닌 의존도 분해)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79" y="868680"/>
            <a:ext cx="3840480" cy="1325880"/>
          </a:xfrm>
          <a:prstGeom prst="roundRect">
            <a:avLst>
              <a:gd name="adj" fmla="val 12000"/>
            </a:avLst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79" y="960120"/>
            <a:ext cx="3840480" cy="5029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/>
            <a:r>
              <a:rPr sz="2600" b="1">
                <a:solidFill>
                  <a:srgbClr val="1E2761"/>
                </a:solidFill>
              </a:rPr>
              <a:t>★★★★☆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79" y="1417320"/>
            <a:ext cx="3840480" cy="4114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/>
            <a:r>
              <a:rPr sz="2200" b="1">
                <a:solidFill>
                  <a:srgbClr val="1E2761"/>
                </a:solidFill>
              </a:rPr>
              <a:t>4.0 / 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79" y="1856231"/>
            <a:ext cx="3840480" cy="3200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/>
            <a:r>
              <a:rPr sz="1000" b="0">
                <a:solidFill>
                  <a:srgbClr val="2C2C35"/>
                </a:solidFill>
              </a:rPr>
              <a:t>정비사업 진행, 호재 의존도 13%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423160"/>
            <a:ext cx="45720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r>
              <a:rPr sz="1500" b="1">
                <a:solidFill>
                  <a:srgbClr val="1E2761"/>
                </a:solidFill>
              </a:rPr>
              <a:t>분석 방식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743200"/>
            <a:ext cx="457200" cy="36576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926080"/>
            <a:ext cx="566928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r>
              <a:rPr sz="1200" b="0">
                <a:solidFill>
                  <a:srgbClr val="2C2C35"/>
                </a:solidFill>
              </a:rPr>
              <a:t>•  호재 의존도 분해 (회귀 잔차 + 이벤트 스터디)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310128"/>
            <a:ext cx="566928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r>
              <a:rPr sz="1200" b="0">
                <a:solidFill>
                  <a:srgbClr val="2C2C35"/>
                </a:solidFill>
              </a:rPr>
              <a:t>•  5~10년 시나리오 분기 (호재 0/50/100% 가정)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694176"/>
            <a:ext cx="566928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r>
              <a:rPr sz="1200" b="0">
                <a:solidFill>
                  <a:srgbClr val="2C2C35"/>
                </a:solidFill>
              </a:rPr>
              <a:t>•  인근 정비사업 단계별 평균 소요년수 baseline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078224"/>
            <a:ext cx="566928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r>
              <a:rPr sz="1200" b="0">
                <a:solidFill>
                  <a:srgbClr val="2C2C35"/>
                </a:solidFill>
              </a:rPr>
              <a:t>•  신규 공급물량 + 30대 인구 추세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462272"/>
            <a:ext cx="566928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r>
              <a:rPr sz="1200" b="0">
                <a:solidFill>
                  <a:srgbClr val="2C2C35"/>
                </a:solidFill>
              </a:rPr>
              <a:t>•  거시 환경 (금리·CPI)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423160"/>
            <a:ext cx="54864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r>
              <a:rPr sz="1500" b="1">
                <a:solidFill>
                  <a:srgbClr val="1E2761"/>
                </a:solidFill>
              </a:rPr>
              <a:t>데이터 출처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2743200"/>
            <a:ext cx="457200" cy="36576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2926080"/>
            <a:ext cx="5394960" cy="256032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r>
              <a:rPr sz="1050" b="1">
                <a:solidFill>
                  <a:srgbClr val="2C2C35"/>
                </a:solidFill>
              </a:rPr>
              <a:t>•  한국부동산원 청약 분양정보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3127248"/>
            <a:ext cx="5212080" cy="22860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r>
              <a:rPr sz="850">
                <a:solidFill>
                  <a:srgbClr val="1E2761"/>
                </a:solidFill>
                <a:hlinkClick r:id="rId2"/>
              </a:rPr>
              <a:t>https://www.data.go.kr/data/15101046/fileData.do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3346704"/>
            <a:ext cx="5394960" cy="256032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r>
              <a:rPr sz="1050" b="1">
                <a:solidFill>
                  <a:srgbClr val="2C2C35"/>
                </a:solidFill>
              </a:rPr>
              <a:t>•  한국부동산원 청약 경쟁률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3547872"/>
            <a:ext cx="5212080" cy="22860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r>
              <a:rPr sz="850">
                <a:solidFill>
                  <a:srgbClr val="1E2761"/>
                </a:solidFill>
                <a:hlinkClick r:id="rId3"/>
              </a:rPr>
              <a:t>https://www.data.go.kr/data/15110988/fileData.do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3767328"/>
            <a:ext cx="5394960" cy="256032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r>
              <a:rPr sz="1050" b="1">
                <a:solidFill>
                  <a:srgbClr val="2C2C35"/>
                </a:solidFill>
              </a:rPr>
              <a:t>•  서울시 정비사업 추진 경과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3968496"/>
            <a:ext cx="5212080" cy="22860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r>
              <a:rPr sz="850">
                <a:solidFill>
                  <a:srgbClr val="1E2761"/>
                </a:solidFill>
                <a:hlinkClick r:id="rId4"/>
              </a:rPr>
              <a:t>https://data.seoul.go.kr/dataList/OA-22856/L/1/datasetView.do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4187952"/>
            <a:ext cx="5394960" cy="256032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r>
              <a:rPr sz="1050" b="1">
                <a:solidFill>
                  <a:srgbClr val="2C2C35"/>
                </a:solidFill>
              </a:rPr>
              <a:t>•  KOSIS 인구통계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4389120"/>
            <a:ext cx="5212080" cy="22860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r>
              <a:rPr sz="850">
                <a:solidFill>
                  <a:srgbClr val="1E2761"/>
                </a:solidFill>
                <a:hlinkClick r:id="rId5"/>
              </a:rPr>
              <a:t>https://kosis.kr/openapi/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4608576"/>
            <a:ext cx="5394960" cy="256032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r>
              <a:rPr sz="1050" b="1">
                <a:solidFill>
                  <a:srgbClr val="2C2C35"/>
                </a:solidFill>
              </a:rPr>
              <a:t>•  행정안전부 주민등록 세대수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4809744"/>
            <a:ext cx="5212080" cy="22860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r>
              <a:rPr sz="850">
                <a:solidFill>
                  <a:srgbClr val="1E2761"/>
                </a:solidFill>
                <a:hlinkClick r:id="rId6"/>
              </a:rPr>
              <a:t>https://www.data.go.kr/data/15097974/fileData.do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5029200"/>
            <a:ext cx="5394960" cy="256032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r>
              <a:rPr sz="1050" b="1">
                <a:solidFill>
                  <a:srgbClr val="2C2C35"/>
                </a:solidFill>
              </a:rPr>
              <a:t>•  한국은행 ECOS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5230368"/>
            <a:ext cx="5212080" cy="22860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r>
              <a:rPr sz="850">
                <a:solidFill>
                  <a:srgbClr val="1E2761"/>
                </a:solidFill>
                <a:hlinkClick r:id="rId7"/>
              </a:rPr>
              <a:t>https://ecos.bok.or.kr/api/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5074920"/>
            <a:ext cx="11338560" cy="1371600"/>
          </a:xfrm>
          <a:prstGeom prst="roundRect">
            <a:avLst>
              <a:gd name="adj" fmla="val 8000"/>
            </a:avLst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5800" y="5212080"/>
            <a:ext cx="109728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r>
              <a:rPr sz="1300" b="1">
                <a:solidFill>
                  <a:srgbClr val="1E2761"/>
                </a:solidFill>
              </a:rPr>
              <a:t>⚡  트리거 패턴 (적응형 정보 깊이)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85800" y="5623560"/>
            <a:ext cx="5440680" cy="6858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68680" y="5687568"/>
            <a:ext cx="45720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r>
              <a:rPr sz="1400" b="1">
                <a:solidFill>
                  <a:srgbClr val="2E8B57"/>
                </a:solidFill>
              </a:rP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80160" y="5687568"/>
            <a:ext cx="475488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r>
              <a:rPr sz="1000" b="1">
                <a:solidFill>
                  <a:srgbClr val="2E8B57"/>
                </a:solidFill>
              </a:rPr>
              <a:t>정상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80160" y="5897880"/>
            <a:ext cx="475488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r>
              <a:rPr sz="1000" b="0">
                <a:solidFill>
                  <a:srgbClr val="2C2C35"/>
                </a:solidFill>
              </a:rPr>
              <a:t>잔여 프리미엄 &lt; 20% → "호재 영향 적정 ✓"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63640" y="5623560"/>
            <a:ext cx="5440680" cy="6858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46520" y="5687568"/>
            <a:ext cx="45720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r>
              <a:rPr sz="1400" b="1">
                <a:solidFill>
                  <a:srgbClr val="E67E22"/>
                </a:solidFill>
              </a:rPr>
              <a:t>⚠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0" y="5687568"/>
            <a:ext cx="475488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r>
              <a:rPr sz="1000" b="1">
                <a:solidFill>
                  <a:srgbClr val="E67E22"/>
                </a:solidFill>
              </a:rPr>
              <a:t>이상 트리거 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0" y="5897880"/>
            <a:ext cx="475488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r>
              <a:rPr sz="1000" b="0">
                <a:solidFill>
                  <a:srgbClr val="2C2C35"/>
                </a:solidFill>
              </a:rPr>
              <a:t>≥ 20% → 호재 분해 그래프 + 5~10년 시나리오 분기 (사용자 신뢰도 슬라이더)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5760" y="6537960"/>
            <a:ext cx="11430000" cy="2286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/>
            <a:r>
              <a:rPr sz="800" b="0">
                <a:solidFill>
                  <a:srgbClr val="777780"/>
                </a:solidFill>
              </a:rPr>
              <a:t>※ 시연용 가상 매물 (노원 OO아파트 1203호) · 모든 데이터는 공공 OpenAPI · LLM 할루시네이션 0%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5486400" cy="292608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r>
              <a:rPr sz="1000" b="1">
                <a:solidFill>
                  <a:srgbClr val="CADCFC"/>
                </a:solidFill>
              </a:rPr>
              <a:t>PAGE 5 /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37160"/>
            <a:ext cx="5422392" cy="292608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/>
            <a:r>
              <a:rPr sz="1000" b="0">
                <a:solidFill>
                  <a:srgbClr val="CADCFC"/>
                </a:solidFill>
              </a:rPr>
              <a:t>부동산 검증 AI 에이전트  ·  본인 시안 (Sunny)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6858000" cy="6400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r>
              <a:rPr sz="3000" b="1">
                <a:solidFill>
                  <a:srgbClr val="1E2761"/>
                </a:solidFill>
              </a:rPr>
              <a:t>CARD 5.  리스크 (거주 환경)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54480"/>
            <a:ext cx="6858000" cy="4114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r>
              <a:rPr sz="1400" b="0">
                <a:solidFill>
                  <a:srgbClr val="777780"/>
                </a:solidFill>
              </a:rPr>
              <a:t>이 단지에서 살 때 안정성은?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79" y="868680"/>
            <a:ext cx="3840480" cy="1325880"/>
          </a:xfrm>
          <a:prstGeom prst="roundRect">
            <a:avLst>
              <a:gd name="adj" fmla="val 12000"/>
            </a:avLst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79" y="960120"/>
            <a:ext cx="3840480" cy="5029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/>
            <a:r>
              <a:rPr sz="2600" b="1">
                <a:solidFill>
                  <a:srgbClr val="1E2761"/>
                </a:solidFill>
              </a:rPr>
              <a:t>★★★☆☆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79" y="1417320"/>
            <a:ext cx="3840480" cy="4114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/>
            <a:r>
              <a:rPr sz="2200" b="1">
                <a:solidFill>
                  <a:srgbClr val="1E2761"/>
                </a:solidFill>
              </a:rPr>
              <a:t>2.8 / 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79" y="1856231"/>
            <a:ext cx="3840480" cy="3200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/>
            <a:r>
              <a:rPr sz="1000" b="0">
                <a:solidFill>
                  <a:srgbClr val="2C2C35"/>
                </a:solidFill>
              </a:rPr>
              <a:t>노후 25년, 도로 인접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423160"/>
            <a:ext cx="45720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r>
              <a:rPr sz="1500" b="1">
                <a:solidFill>
                  <a:srgbClr val="1E2761"/>
                </a:solidFill>
              </a:rPr>
              <a:t>분석 방식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743200"/>
            <a:ext cx="457200" cy="36576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926080"/>
            <a:ext cx="566928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r>
              <a:rPr sz="1200" b="0">
                <a:solidFill>
                  <a:srgbClr val="2C2C35"/>
                </a:solidFill>
              </a:rPr>
              <a:t>•  단지 노후도·관리 (건축물대장)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310128"/>
            <a:ext cx="566928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r>
              <a:rPr sz="1200" b="0">
                <a:solidFill>
                  <a:srgbClr val="2C2C35"/>
                </a:solidFill>
              </a:rPr>
              <a:t>•  미세먼지 시 평균 대비 상대값 (국지 초과 비율)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694176"/>
            <a:ext cx="566928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r>
              <a:rPr sz="1200" b="0">
                <a:solidFill>
                  <a:srgbClr val="2C2C35"/>
                </a:solidFill>
              </a:rPr>
              <a:t>•  교통 소음 프록시 (간선도로 거리)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078224"/>
            <a:ext cx="566928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r>
              <a:rPr sz="1200" b="0">
                <a:solidFill>
                  <a:srgbClr val="2C2C35"/>
                </a:solidFill>
              </a:rPr>
              <a:t>•  ※ 자연재해·매물 호 단위·권리관계는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462272"/>
            <a:ext cx="566928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r>
              <a:rPr sz="1200" b="0">
                <a:solidFill>
                  <a:srgbClr val="2C2C35"/>
                </a:solidFill>
              </a:rPr>
              <a:t>•     시스템 범위 밖 (도시 매물 의미 약함·임장·등기소)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423160"/>
            <a:ext cx="54864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r>
              <a:rPr sz="1500" b="1">
                <a:solidFill>
                  <a:srgbClr val="1E2761"/>
                </a:solidFill>
              </a:rPr>
              <a:t>데이터 출처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2743200"/>
            <a:ext cx="457200" cy="36576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2926080"/>
            <a:ext cx="5394960" cy="256032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r>
              <a:rPr sz="1050" b="1">
                <a:solidFill>
                  <a:srgbClr val="2C2C35"/>
                </a:solidFill>
              </a:rPr>
              <a:t>•  국토부 건축HUB 건축물대장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3127248"/>
            <a:ext cx="5212080" cy="22860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r>
              <a:rPr sz="850">
                <a:solidFill>
                  <a:srgbClr val="1E2761"/>
                </a:solidFill>
                <a:hlinkClick r:id="rId2"/>
              </a:rPr>
              <a:t>https://www.hub.go.kr/portal/psg/idx-intro-openApi.do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3346704"/>
            <a:ext cx="5394960" cy="256032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r>
              <a:rPr sz="1050" b="1">
                <a:solidFill>
                  <a:srgbClr val="2C2C35"/>
                </a:solidFill>
              </a:rPr>
              <a:t>•  국토부 공동주택 기본정보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3547872"/>
            <a:ext cx="5212080" cy="22860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r>
              <a:rPr sz="850">
                <a:solidFill>
                  <a:srgbClr val="1E2761"/>
                </a:solidFill>
                <a:hlinkClick r:id="rId3"/>
              </a:rPr>
              <a:t>https://www.data.go.kr/data/15058453/openapi.do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3767328"/>
            <a:ext cx="5394960" cy="256032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r>
              <a:rPr sz="1050" b="1">
                <a:solidFill>
                  <a:srgbClr val="2C2C35"/>
                </a:solidFill>
              </a:rPr>
              <a:t>•  한국환경공단 에어코리아 대기오염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3968496"/>
            <a:ext cx="5212080" cy="22860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r>
              <a:rPr sz="850">
                <a:solidFill>
                  <a:srgbClr val="1E2761"/>
                </a:solidFill>
                <a:hlinkClick r:id="rId4"/>
              </a:rPr>
              <a:t>https://www.data.go.kr/tcs/dss/selectApiDataDetailView.do?publicDataPk=15073861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4187952"/>
            <a:ext cx="5394960" cy="256032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r>
              <a:rPr sz="1050" b="1">
                <a:solidFill>
                  <a:srgbClr val="2C2C35"/>
                </a:solidFill>
              </a:rPr>
              <a:t>•  한국환경공단 측정소 정보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4389120"/>
            <a:ext cx="5212080" cy="22860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r>
              <a:rPr sz="850">
                <a:solidFill>
                  <a:srgbClr val="1E2761"/>
                </a:solidFill>
                <a:hlinkClick r:id="rId5"/>
              </a:rPr>
              <a:t>https://www.data.go.kr/data/15073877/openapi.do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4608576"/>
            <a:ext cx="5394960" cy="256032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r>
              <a:rPr sz="1050" b="1">
                <a:solidFill>
                  <a:srgbClr val="2C2C35"/>
                </a:solidFill>
              </a:rPr>
              <a:t>•  국토부 도시계획(도로)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4809744"/>
            <a:ext cx="5212080" cy="22860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r>
              <a:rPr sz="850">
                <a:solidFill>
                  <a:srgbClr val="1E2761"/>
                </a:solidFill>
                <a:hlinkClick r:id="rId6"/>
              </a:rPr>
              <a:t>https://www.data.go.kr/data/15058180/openapi.do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5074920"/>
            <a:ext cx="11338560" cy="1371600"/>
          </a:xfrm>
          <a:prstGeom prst="roundRect">
            <a:avLst>
              <a:gd name="adj" fmla="val 8000"/>
            </a:avLst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5212080"/>
            <a:ext cx="109728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r>
              <a:rPr sz="1300" b="1">
                <a:solidFill>
                  <a:srgbClr val="1E2761"/>
                </a:solidFill>
              </a:rPr>
              <a:t>⚡  트리거 패턴 (적응형 정보 깊이)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85800" y="5623560"/>
            <a:ext cx="5440680" cy="6858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68680" y="5687568"/>
            <a:ext cx="45720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r>
              <a:rPr sz="1400" b="1">
                <a:solidFill>
                  <a:srgbClr val="2E8B57"/>
                </a:solidFill>
              </a:rPr>
              <a:t>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5687568"/>
            <a:ext cx="475488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r>
              <a:rPr sz="1000" b="1">
                <a:solidFill>
                  <a:srgbClr val="2E8B57"/>
                </a:solidFill>
              </a:rPr>
              <a:t>정상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80160" y="5897880"/>
            <a:ext cx="475488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r>
              <a:rPr sz="1000" b="0">
                <a:solidFill>
                  <a:srgbClr val="2C2C35"/>
                </a:solidFill>
              </a:rPr>
              <a:t>국지 초과 &lt; 50% &amp; 도로 ≥ 200m → "거주 환경 안정 ✓"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63640" y="5623560"/>
            <a:ext cx="5440680" cy="6858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46520" y="5687568"/>
            <a:ext cx="45720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r>
              <a:rPr sz="1400" b="1">
                <a:solidFill>
                  <a:srgbClr val="E67E22"/>
                </a:solidFill>
              </a:rPr>
              <a:t>⚠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5687568"/>
            <a:ext cx="475488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r>
              <a:rPr sz="1000" b="1">
                <a:solidFill>
                  <a:srgbClr val="E67E22"/>
                </a:solidFill>
              </a:rPr>
              <a:t>이상 트리거 시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0" y="5897880"/>
            <a:ext cx="475488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r>
              <a:rPr sz="1000" b="0">
                <a:solidFill>
                  <a:srgbClr val="2C2C35"/>
                </a:solidFill>
              </a:rPr>
              <a:t>국지 초과 ≥ 50% → 발생원 매핑 / 간선도로 ≤ 200m → 거리·방향 표시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5760" y="6537960"/>
            <a:ext cx="11430000" cy="2286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/>
            <a:r>
              <a:rPr sz="800" b="0">
                <a:solidFill>
                  <a:srgbClr val="777780"/>
                </a:solidFill>
              </a:rPr>
              <a:t>※ 시연용 가상 매물 (노원 OO아파트 1203호) · 모든 데이터는 공공 OpenAPI · LLM 할루시네이션 0%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5486400" cy="292608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r>
              <a:rPr sz="1000" b="1">
                <a:solidFill>
                  <a:srgbClr val="CADCFC"/>
                </a:solidFill>
              </a:rPr>
              <a:t>PAGE 6 /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37160"/>
            <a:ext cx="5422392" cy="292608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/>
            <a:r>
              <a:rPr sz="1000" b="0">
                <a:solidFill>
                  <a:srgbClr val="CADCFC"/>
                </a:solidFill>
              </a:rPr>
              <a:t>부동산 검증 AI 에이전트  ·  본인 시안 (Sunny)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0972800" cy="6400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r>
              <a:rPr sz="3000" b="1">
                <a:solidFill>
                  <a:srgbClr val="1E2761"/>
                </a:solidFill>
              </a:rPr>
              <a:t>PAGE 6.  사용자 인터뷰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54480"/>
            <a:ext cx="10972800" cy="4114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r>
              <a:rPr sz="1300" b="0">
                <a:solidFill>
                  <a:srgbClr val="777780"/>
                </a:solidFill>
              </a:rPr>
              <a:t>5개 카드의 가중치를 결정하는 5개 질문 — 사용자 답변에 따라 3 에이전트 토론의 가중치 추천이 달라짐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286000"/>
            <a:ext cx="2221992" cy="4114800"/>
          </a:xfrm>
          <a:prstGeom prst="roundRect">
            <a:avLst>
              <a:gd name="adj" fmla="val 6000"/>
            </a:avLst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2377440"/>
            <a:ext cx="2039112" cy="3931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85800" y="2514600"/>
            <a:ext cx="502920" cy="365760"/>
          </a:xfrm>
          <a:prstGeom prst="roundRect">
            <a:avLst>
              <a:gd name="adj" fmla="val 40000"/>
            </a:avLst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551176"/>
            <a:ext cx="502920" cy="292608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Q1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971800"/>
            <a:ext cx="1764792" cy="4572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r>
              <a:rPr sz="1200" b="1">
                <a:solidFill>
                  <a:srgbClr val="1E2761"/>
                </a:solidFill>
              </a:rPr>
              <a:t>보유 기간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3520440"/>
            <a:ext cx="1764792" cy="18288"/>
          </a:xfrm>
          <a:prstGeom prst="rect">
            <a:avLst/>
          </a:prstGeom>
          <a:solidFill>
            <a:srgbClr val="9BB6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611880"/>
            <a:ext cx="1764792" cy="3200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r>
              <a:rPr sz="800" b="1">
                <a:solidFill>
                  <a:srgbClr val="777780"/>
                </a:solidFill>
              </a:rPr>
              <a:t>선택지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840480"/>
            <a:ext cx="1764792" cy="6400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r>
              <a:rPr sz="950" b="0">
                <a:solidFill>
                  <a:srgbClr val="2C2C35"/>
                </a:solidFill>
              </a:rPr>
              <a:t>5년 이상 / 단기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526280"/>
            <a:ext cx="1764792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r>
              <a:rPr sz="800" b="1">
                <a:solidFill>
                  <a:srgbClr val="777780"/>
                </a:solidFill>
              </a:rPr>
              <a:t>가중치 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754880"/>
            <a:ext cx="1764792" cy="9144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r>
              <a:rPr sz="900" b="0">
                <a:solidFill>
                  <a:srgbClr val="2C2C35"/>
                </a:solidFill>
              </a:rPr>
              <a:t>5년+: 미래가치 ↑, 리스크 ↓
단기: 시세 ↑, 미래가치 ↓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5852160"/>
            <a:ext cx="1764792" cy="457200"/>
          </a:xfrm>
          <a:prstGeom prst="roundRect">
            <a:avLst>
              <a:gd name="adj" fmla="val 20000"/>
            </a:avLst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5879592"/>
            <a:ext cx="1673352" cy="1828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r>
              <a:rPr sz="750" b="1">
                <a:solidFill>
                  <a:srgbClr val="777780"/>
                </a:solidFill>
              </a:rPr>
              <a:t>영향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6035040"/>
            <a:ext cx="1673352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r>
              <a:rPr sz="850" b="1">
                <a:solidFill>
                  <a:srgbClr val="1E2761"/>
                </a:solidFill>
              </a:rPr>
              <a:t>시세 · 미래가치 · 리스크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724912" y="2286000"/>
            <a:ext cx="2221992" cy="4114800"/>
          </a:xfrm>
          <a:prstGeom prst="roundRect">
            <a:avLst>
              <a:gd name="adj" fmla="val 6000"/>
            </a:avLst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2816352" y="2377440"/>
            <a:ext cx="2039112" cy="3931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2953512" y="2514600"/>
            <a:ext cx="502920" cy="365760"/>
          </a:xfrm>
          <a:prstGeom prst="roundRect">
            <a:avLst>
              <a:gd name="adj" fmla="val 40000"/>
            </a:avLst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953512" y="2551176"/>
            <a:ext cx="502920" cy="292608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Q2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53512" y="2971800"/>
            <a:ext cx="1764792" cy="4572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r>
              <a:rPr sz="1200" b="1">
                <a:solidFill>
                  <a:srgbClr val="1E2761"/>
                </a:solidFill>
              </a:rPr>
              <a:t>자녀 학군 중요도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953512" y="3520440"/>
            <a:ext cx="1764792" cy="18288"/>
          </a:xfrm>
          <a:prstGeom prst="rect">
            <a:avLst/>
          </a:prstGeom>
          <a:solidFill>
            <a:srgbClr val="9BB6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953512" y="3611880"/>
            <a:ext cx="1764792" cy="3200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r>
              <a:rPr sz="800" b="1">
                <a:solidFill>
                  <a:srgbClr val="777780"/>
                </a:solidFill>
              </a:rPr>
              <a:t>선택지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53512" y="3840480"/>
            <a:ext cx="1764792" cy="6400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r>
              <a:rPr sz="950" b="0">
                <a:solidFill>
                  <a:srgbClr val="2C2C35"/>
                </a:solidFill>
              </a:rPr>
              <a:t>매우 중요 / 보통 / 비해당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53512" y="4526280"/>
            <a:ext cx="1764792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r>
              <a:rPr sz="800" b="1">
                <a:solidFill>
                  <a:srgbClr val="777780"/>
                </a:solidFill>
              </a:rPr>
              <a:t>가중치 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53512" y="4754880"/>
            <a:ext cx="1764792" cy="9144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r>
              <a:rPr sz="900" b="0">
                <a:solidFill>
                  <a:srgbClr val="2C2C35"/>
                </a:solidFill>
              </a:rPr>
              <a:t>매우 중요: 입지(학교) ↑↑
보통: 균등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953512" y="5852160"/>
            <a:ext cx="1764792" cy="457200"/>
          </a:xfrm>
          <a:prstGeom prst="roundRect">
            <a:avLst>
              <a:gd name="adj" fmla="val 20000"/>
            </a:avLst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999232" y="5879592"/>
            <a:ext cx="1673352" cy="1828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r>
              <a:rPr sz="750" b="1">
                <a:solidFill>
                  <a:srgbClr val="777780"/>
                </a:solidFill>
              </a:rPr>
              <a:t>영향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999232" y="6035040"/>
            <a:ext cx="1673352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r>
              <a:rPr sz="850" b="1">
                <a:solidFill>
                  <a:srgbClr val="1E2761"/>
                </a:solidFill>
              </a:rPr>
              <a:t>입지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992624" y="2286000"/>
            <a:ext cx="2221992" cy="4114800"/>
          </a:xfrm>
          <a:prstGeom prst="roundRect">
            <a:avLst>
              <a:gd name="adj" fmla="val 6000"/>
            </a:avLst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5084064" y="2377440"/>
            <a:ext cx="2039112" cy="3931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5221224" y="2514600"/>
            <a:ext cx="502920" cy="365760"/>
          </a:xfrm>
          <a:prstGeom prst="roundRect">
            <a:avLst>
              <a:gd name="adj" fmla="val 40000"/>
            </a:avLst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221224" y="2551176"/>
            <a:ext cx="502920" cy="292608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Q3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221224" y="2971800"/>
            <a:ext cx="1764792" cy="4572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r>
              <a:rPr sz="1200" b="1">
                <a:solidFill>
                  <a:srgbClr val="1E2761"/>
                </a:solidFill>
              </a:rPr>
              <a:t>출퇴근 vs 거주환경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221224" y="3520440"/>
            <a:ext cx="1764792" cy="18288"/>
          </a:xfrm>
          <a:prstGeom prst="rect">
            <a:avLst/>
          </a:prstGeom>
          <a:solidFill>
            <a:srgbClr val="9BB6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221224" y="3611880"/>
            <a:ext cx="1764792" cy="3200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r>
              <a:rPr sz="800" b="1">
                <a:solidFill>
                  <a:srgbClr val="777780"/>
                </a:solidFill>
              </a:rPr>
              <a:t>선택지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221224" y="3840480"/>
            <a:ext cx="1764792" cy="6400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r>
              <a:rPr sz="950" b="0">
                <a:solidFill>
                  <a:srgbClr val="2C2C35"/>
                </a:solidFill>
              </a:rPr>
              <a:t>출퇴근 우선 / 거주환경 우선 / 균형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221224" y="4526280"/>
            <a:ext cx="1764792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r>
              <a:rPr sz="800" b="1">
                <a:solidFill>
                  <a:srgbClr val="777780"/>
                </a:solidFill>
              </a:rPr>
              <a:t>가중치 룰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221224" y="4754880"/>
            <a:ext cx="1764792" cy="9144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r>
              <a:rPr sz="900" b="0">
                <a:solidFill>
                  <a:srgbClr val="2C2C35"/>
                </a:solidFill>
              </a:rPr>
              <a:t>출퇴근: 입지(역세권) ↑
거주환경: 생활편의·리스크 ↑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221224" y="5852160"/>
            <a:ext cx="1764792" cy="457200"/>
          </a:xfrm>
          <a:prstGeom prst="roundRect">
            <a:avLst>
              <a:gd name="adj" fmla="val 20000"/>
            </a:avLst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266944" y="5879592"/>
            <a:ext cx="1673352" cy="1828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r>
              <a:rPr sz="750" b="1">
                <a:solidFill>
                  <a:srgbClr val="777780"/>
                </a:solidFill>
              </a:rPr>
              <a:t>영향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66944" y="6035040"/>
            <a:ext cx="1673352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r>
              <a:rPr sz="850" b="1">
                <a:solidFill>
                  <a:srgbClr val="1E2761"/>
                </a:solidFill>
              </a:rPr>
              <a:t>입지 · 생활편의 · 리스크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260336" y="2286000"/>
            <a:ext cx="2221992" cy="4114800"/>
          </a:xfrm>
          <a:prstGeom prst="roundRect">
            <a:avLst>
              <a:gd name="adj" fmla="val 6000"/>
            </a:avLst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7351775" y="2377440"/>
            <a:ext cx="2039112" cy="3931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7488936" y="2514600"/>
            <a:ext cx="502920" cy="365760"/>
          </a:xfrm>
          <a:prstGeom prst="roundRect">
            <a:avLst>
              <a:gd name="adj" fmla="val 40000"/>
            </a:avLst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488936" y="2551176"/>
            <a:ext cx="502920" cy="292608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Q4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488936" y="2971800"/>
            <a:ext cx="1764792" cy="4572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r>
              <a:rPr sz="1200" b="1">
                <a:solidFill>
                  <a:srgbClr val="1E2761"/>
                </a:solidFill>
              </a:rPr>
              <a:t>호재 신뢰도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488936" y="3520440"/>
            <a:ext cx="1764792" cy="18288"/>
          </a:xfrm>
          <a:prstGeom prst="rect">
            <a:avLst/>
          </a:prstGeom>
          <a:solidFill>
            <a:srgbClr val="9BB6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488936" y="3611880"/>
            <a:ext cx="1764792" cy="3200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r>
              <a:rPr sz="800" b="1">
                <a:solidFill>
                  <a:srgbClr val="777780"/>
                </a:solidFill>
              </a:rPr>
              <a:t>선택지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488936" y="3840480"/>
            <a:ext cx="1764792" cy="6400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r>
              <a:rPr sz="950" b="0">
                <a:solidFill>
                  <a:srgbClr val="2C2C35"/>
                </a:solidFill>
              </a:rPr>
              <a:t>실현 신뢰 / 회의적 / 중립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488936" y="4526280"/>
            <a:ext cx="1764792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r>
              <a:rPr sz="800" b="1">
                <a:solidFill>
                  <a:srgbClr val="777780"/>
                </a:solidFill>
              </a:rPr>
              <a:t>가중치 룰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488936" y="4754880"/>
            <a:ext cx="1764792" cy="9144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r>
              <a:rPr sz="900" b="0">
                <a:solidFill>
                  <a:srgbClr val="2C2C35"/>
                </a:solidFill>
              </a:rPr>
              <a:t>신뢰: 미래가치 ↑
회의: 시세 ↑, 미래가치 ↓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7488936" y="5852160"/>
            <a:ext cx="1764792" cy="457200"/>
          </a:xfrm>
          <a:prstGeom prst="roundRect">
            <a:avLst>
              <a:gd name="adj" fmla="val 20000"/>
            </a:avLst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534656" y="5879592"/>
            <a:ext cx="1673352" cy="1828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r>
              <a:rPr sz="750" b="1">
                <a:solidFill>
                  <a:srgbClr val="777780"/>
                </a:solidFill>
              </a:rPr>
              <a:t>영향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534656" y="6035040"/>
            <a:ext cx="1673352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r>
              <a:rPr sz="850" b="1">
                <a:solidFill>
                  <a:srgbClr val="1E2761"/>
                </a:solidFill>
              </a:rPr>
              <a:t>시세 · 미래가치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9528048" y="2286000"/>
            <a:ext cx="2221992" cy="4114800"/>
          </a:xfrm>
          <a:prstGeom prst="roundRect">
            <a:avLst>
              <a:gd name="adj" fmla="val 6000"/>
            </a:avLst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9619488" y="2377440"/>
            <a:ext cx="2039112" cy="3931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9756648" y="2514600"/>
            <a:ext cx="502920" cy="365760"/>
          </a:xfrm>
          <a:prstGeom prst="roundRect">
            <a:avLst>
              <a:gd name="adj" fmla="val 40000"/>
            </a:avLst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756648" y="2551176"/>
            <a:ext cx="502920" cy="292608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Q5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756648" y="2971800"/>
            <a:ext cx="1764792" cy="4572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r>
              <a:rPr sz="1200" b="1">
                <a:solidFill>
                  <a:srgbClr val="1E2761"/>
                </a:solidFill>
              </a:rPr>
              <a:t>자산 가치 vs 거주 만족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756648" y="3520440"/>
            <a:ext cx="1764792" cy="18288"/>
          </a:xfrm>
          <a:prstGeom prst="rect">
            <a:avLst/>
          </a:prstGeom>
          <a:solidFill>
            <a:srgbClr val="9BB6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756648" y="3611880"/>
            <a:ext cx="1764792" cy="3200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r>
              <a:rPr sz="800" b="1">
                <a:solidFill>
                  <a:srgbClr val="777780"/>
                </a:solidFill>
              </a:rPr>
              <a:t>선택지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756648" y="3840480"/>
            <a:ext cx="1764792" cy="6400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r>
              <a:rPr sz="950" b="0">
                <a:solidFill>
                  <a:srgbClr val="2C2C35"/>
                </a:solidFill>
              </a:rPr>
              <a:t>자산 가치 / 거주 만족 / 균형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756648" y="4526280"/>
            <a:ext cx="1764792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r>
              <a:rPr sz="800" b="1">
                <a:solidFill>
                  <a:srgbClr val="777780"/>
                </a:solidFill>
              </a:rPr>
              <a:t>가중치 룰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756648" y="4754880"/>
            <a:ext cx="1764792" cy="9144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r>
              <a:rPr sz="900" b="0">
                <a:solidFill>
                  <a:srgbClr val="2C2C35"/>
                </a:solidFill>
              </a:rPr>
              <a:t>자산: 시세·미래가치 ↑
거주: 생활편의·리스크 ↑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9756648" y="5852160"/>
            <a:ext cx="1764792" cy="457200"/>
          </a:xfrm>
          <a:prstGeom prst="roundRect">
            <a:avLst>
              <a:gd name="adj" fmla="val 20000"/>
            </a:avLst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9802368" y="5879592"/>
            <a:ext cx="1673352" cy="1828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r>
              <a:rPr sz="750" b="1">
                <a:solidFill>
                  <a:srgbClr val="777780"/>
                </a:solidFill>
              </a:rPr>
              <a:t>영향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802368" y="6035040"/>
            <a:ext cx="1673352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r>
              <a:rPr sz="850" b="1">
                <a:solidFill>
                  <a:srgbClr val="1E2761"/>
                </a:solidFill>
              </a:rPr>
              <a:t>전 5장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65760" y="6537960"/>
            <a:ext cx="11430000" cy="2286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/>
            <a:r>
              <a:rPr sz="800" b="0">
                <a:solidFill>
                  <a:srgbClr val="777780"/>
                </a:solidFill>
              </a:rPr>
              <a:t>※ 시연용 가상 매물 (노원 OO아파트 1203호) · 모든 데이터는 공공 OpenAPI · LLM 할루시네이션 0%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5486400" cy="292608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r>
              <a:rPr sz="1000" b="1">
                <a:solidFill>
                  <a:srgbClr val="CADCFC"/>
                </a:solidFill>
              </a:rPr>
              <a:t>PAGE 7 /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37160"/>
            <a:ext cx="5422392" cy="292608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/>
            <a:r>
              <a:rPr sz="1000" b="0">
                <a:solidFill>
                  <a:srgbClr val="CADCFC"/>
                </a:solidFill>
              </a:rPr>
              <a:t>부동산 검증 AI 에이전트  ·  본인 시안 (Sunny)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777240"/>
            <a:ext cx="11338560" cy="960120"/>
          </a:xfrm>
          <a:prstGeom prst="rect">
            <a:avLst/>
          </a:prstGeom>
          <a:solidFill>
            <a:srgbClr val="141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868680"/>
            <a:ext cx="7315200" cy="4114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r>
              <a:rPr sz="1800" b="1">
                <a:solidFill>
                  <a:srgbClr val="FFFFFF"/>
                </a:solidFill>
              </a:rPr>
              <a:t>🏠  노원 OO아파트 105동 1203호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07592"/>
            <a:ext cx="73152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r>
              <a:rPr sz="1100" b="0">
                <a:solidFill>
                  <a:srgbClr val="CADCFC"/>
                </a:solidFill>
              </a:rPr>
              <a:t>매매가 5.3억  ·  24평형  ·  건축 25년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850392"/>
            <a:ext cx="3108960" cy="4114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/>
            <a:r>
              <a:rPr sz="1000" b="0">
                <a:solidFill>
                  <a:srgbClr val="CADCFC"/>
                </a:solidFill>
              </a:rPr>
              <a:t>당신의 가중치 기준 종합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1188720"/>
            <a:ext cx="3108960" cy="5486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/>
            <a:r>
              <a:rPr sz="2400" b="1">
                <a:solidFill>
                  <a:srgbClr val="F5C047"/>
                </a:solidFill>
              </a:rPr>
              <a:t>★ 3.85 / 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965960"/>
            <a:ext cx="41148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r>
              <a:rPr sz="1400" b="1">
                <a:solidFill>
                  <a:srgbClr val="1E2761"/>
                </a:solidFill>
              </a:rPr>
              <a:t>5 도메인 객관 점수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286000"/>
            <a:ext cx="457200" cy="36576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7200" y="2468880"/>
            <a:ext cx="4114800" cy="502920"/>
          </a:xfrm>
          <a:prstGeom prst="roundRect">
            <a:avLst>
              <a:gd name="adj" fmla="val 20000"/>
            </a:avLst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7200" y="2468880"/>
            <a:ext cx="2633472" cy="502920"/>
          </a:xfrm>
          <a:prstGeom prst="roundRect">
            <a:avLst>
              <a:gd name="adj" fmla="val 20000"/>
            </a:avLst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2532888"/>
            <a:ext cx="109728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r>
              <a:rPr sz="1100" b="1">
                <a:solidFill>
                  <a:srgbClr val="1E2761"/>
                </a:solidFill>
              </a:rPr>
              <a:t>시세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2532888"/>
            <a:ext cx="384048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/>
            <a:r>
              <a:rPr sz="1100" b="1">
                <a:solidFill>
                  <a:srgbClr val="1E2761"/>
                </a:solidFill>
              </a:rPr>
              <a:t>★ 3.2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2715768"/>
            <a:ext cx="384048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r>
              <a:rPr sz="850" b="0">
                <a:solidFill>
                  <a:srgbClr val="2C2C35"/>
                </a:solidFill>
              </a:rPr>
              <a:t>호가 거품 18%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035808"/>
            <a:ext cx="4114800" cy="502920"/>
          </a:xfrm>
          <a:prstGeom prst="roundRect">
            <a:avLst>
              <a:gd name="adj" fmla="val 20000"/>
            </a:avLst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57200" y="3035808"/>
            <a:ext cx="3703320" cy="502920"/>
          </a:xfrm>
          <a:prstGeom prst="roundRect">
            <a:avLst>
              <a:gd name="adj" fmla="val 20000"/>
            </a:avLst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3099816"/>
            <a:ext cx="109728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r>
              <a:rPr sz="1100" b="1">
                <a:solidFill>
                  <a:srgbClr val="1E2761"/>
                </a:solidFill>
              </a:rPr>
              <a:t>입지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3099816"/>
            <a:ext cx="384048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/>
            <a:r>
              <a:rPr sz="1100" b="1">
                <a:solidFill>
                  <a:srgbClr val="1E2761"/>
                </a:solidFill>
              </a:rPr>
              <a:t>★ 4.5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3282696"/>
            <a:ext cx="384048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r>
              <a:rPr sz="850" b="0">
                <a:solidFill>
                  <a:srgbClr val="2C2C35"/>
                </a:solidFill>
              </a:rPr>
              <a:t>도보 5분 역세권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3602736"/>
            <a:ext cx="4114800" cy="502920"/>
          </a:xfrm>
          <a:prstGeom prst="roundRect">
            <a:avLst>
              <a:gd name="adj" fmla="val 20000"/>
            </a:avLst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57200" y="3602736"/>
            <a:ext cx="3127248" cy="502920"/>
          </a:xfrm>
          <a:prstGeom prst="roundRect">
            <a:avLst>
              <a:gd name="adj" fmla="val 20000"/>
            </a:avLst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3666744"/>
            <a:ext cx="109728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r>
              <a:rPr sz="1100" b="1">
                <a:solidFill>
                  <a:srgbClr val="1E2761"/>
                </a:solidFill>
              </a:rPr>
              <a:t>생활편의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3666744"/>
            <a:ext cx="384048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/>
            <a:r>
              <a:rPr sz="1100" b="1">
                <a:solidFill>
                  <a:srgbClr val="1E2761"/>
                </a:solidFill>
              </a:rPr>
              <a:t>★ 3.8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3849624"/>
            <a:ext cx="384048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r>
              <a:rPr sz="850" b="0">
                <a:solidFill>
                  <a:srgbClr val="2C2C35"/>
                </a:solidFill>
              </a:rPr>
              <a:t>마트·공원 양호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4169664"/>
            <a:ext cx="4114800" cy="502920"/>
          </a:xfrm>
          <a:prstGeom prst="roundRect">
            <a:avLst>
              <a:gd name="adj" fmla="val 20000"/>
            </a:avLst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57200" y="4169664"/>
            <a:ext cx="3291840" cy="502920"/>
          </a:xfrm>
          <a:prstGeom prst="roundRect">
            <a:avLst>
              <a:gd name="adj" fmla="val 20000"/>
            </a:avLst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" y="4233672"/>
            <a:ext cx="109728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r>
              <a:rPr sz="1100" b="1">
                <a:solidFill>
                  <a:srgbClr val="1E2761"/>
                </a:solidFill>
              </a:rPr>
              <a:t>미래가치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4233672"/>
            <a:ext cx="384048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/>
            <a:r>
              <a:rPr sz="1100" b="1">
                <a:solidFill>
                  <a:srgbClr val="1E2761"/>
                </a:solidFill>
              </a:rPr>
              <a:t>★ 4.0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4416552"/>
            <a:ext cx="384048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r>
              <a:rPr sz="850" b="0">
                <a:solidFill>
                  <a:srgbClr val="2C2C35"/>
                </a:solidFill>
              </a:rPr>
              <a:t>정비사업 진행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4736592"/>
            <a:ext cx="4114800" cy="502920"/>
          </a:xfrm>
          <a:prstGeom prst="roundRect">
            <a:avLst>
              <a:gd name="adj" fmla="val 20000"/>
            </a:avLst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457200" y="4736592"/>
            <a:ext cx="2304287" cy="502920"/>
          </a:xfrm>
          <a:prstGeom prst="roundRect">
            <a:avLst>
              <a:gd name="adj" fmla="val 20000"/>
            </a:avLst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94360" y="4800600"/>
            <a:ext cx="109728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r>
              <a:rPr sz="1100" b="1">
                <a:solidFill>
                  <a:srgbClr val="1E2761"/>
                </a:solidFill>
              </a:rPr>
              <a:t>리스크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360" y="4800600"/>
            <a:ext cx="384048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/>
            <a:r>
              <a:rPr sz="1100" b="1">
                <a:solidFill>
                  <a:srgbClr val="1E2761"/>
                </a:solidFill>
              </a:rPr>
              <a:t>★ 2.8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4983480"/>
            <a:ext cx="384048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r>
              <a:rPr sz="850" b="0">
                <a:solidFill>
                  <a:srgbClr val="2C2C35"/>
                </a:solidFill>
              </a:rPr>
              <a:t>노후 25년·도로 인접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5349240"/>
            <a:ext cx="411480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/>
            <a:r>
              <a:rPr sz="1000" b="0">
                <a:solidFill>
                  <a:srgbClr val="777780"/>
                </a:solidFill>
              </a:rPr>
              <a:t>균등 가중치 (20% × 5)  →  ★ 3.66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937760" y="1965960"/>
            <a:ext cx="41148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r>
              <a:rPr sz="1400" b="1">
                <a:solidFill>
                  <a:srgbClr val="1E2761"/>
                </a:solidFill>
              </a:rPr>
              <a:t>3 에이전트 가중치 토론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937760" y="2286000"/>
            <a:ext cx="457200" cy="36576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4937760" y="2468880"/>
            <a:ext cx="4114800" cy="960120"/>
          </a:xfrm>
          <a:prstGeom prst="roundRect">
            <a:avLst>
              <a:gd name="adj" fmla="val 8000"/>
            </a:avLst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074920" y="2532888"/>
            <a:ext cx="393192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r>
              <a:rPr sz="1100" b="1">
                <a:solidFill>
                  <a:srgbClr val="2E8B57"/>
                </a:solidFill>
              </a:rPr>
              <a:t>🟢 옹호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74920" y="2761488"/>
            <a:ext cx="393192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r>
              <a:rPr sz="950" b="0">
                <a:solidFill>
                  <a:srgbClr val="2C2C35"/>
                </a:solidFill>
              </a:rPr>
              <a:t>"보유 5년+, 호재 진행 중"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74920" y="2971800"/>
            <a:ext cx="393192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r>
              <a:rPr sz="850" b="0">
                <a:solidFill>
                  <a:srgbClr val="777780"/>
                </a:solidFill>
              </a:rPr>
              <a:t>미래가치 +5%, 리스크 -3%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74920" y="3154680"/>
            <a:ext cx="393192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r>
              <a:rPr sz="950" b="1">
                <a:solidFill>
                  <a:srgbClr val="1E2761"/>
                </a:solidFill>
              </a:rPr>
              <a:t>→ 종합 ★3.85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937760" y="3520440"/>
            <a:ext cx="4114800" cy="960120"/>
          </a:xfrm>
          <a:prstGeom prst="roundRect">
            <a:avLst>
              <a:gd name="adj" fmla="val 8000"/>
            </a:avLst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74920" y="3584448"/>
            <a:ext cx="393192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r>
              <a:rPr sz="1100" b="1">
                <a:solidFill>
                  <a:srgbClr val="C0392B"/>
                </a:solidFill>
              </a:rPr>
              <a:t>🔴 반대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074920" y="3813048"/>
            <a:ext cx="393192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r>
              <a:rPr sz="950" b="0">
                <a:solidFill>
                  <a:srgbClr val="2C2C35"/>
                </a:solidFill>
              </a:rPr>
              <a:t>"노후 25년 + 도로 인접"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74920" y="4023360"/>
            <a:ext cx="393192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r>
              <a:rPr sz="850" b="0">
                <a:solidFill>
                  <a:srgbClr val="777780"/>
                </a:solidFill>
              </a:rPr>
              <a:t>리스크 +5%, 시세 -3%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074920" y="4206240"/>
            <a:ext cx="393192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r>
              <a:rPr sz="950" b="1">
                <a:solidFill>
                  <a:srgbClr val="1E2761"/>
                </a:solidFill>
              </a:rPr>
              <a:t>→ 종합 ★3.50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937760" y="4572000"/>
            <a:ext cx="4114800" cy="960120"/>
          </a:xfrm>
          <a:prstGeom prst="roundRect">
            <a:avLst>
              <a:gd name="adj" fmla="val 8000"/>
            </a:avLst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074920" y="4636008"/>
            <a:ext cx="393192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r>
              <a:rPr sz="1100" b="1">
                <a:solidFill>
                  <a:srgbClr val="777780"/>
                </a:solidFill>
              </a:rPr>
              <a:t>⚪ 중립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074920" y="4864608"/>
            <a:ext cx="393192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r>
              <a:rPr sz="950" b="0">
                <a:solidFill>
                  <a:srgbClr val="2C2C35"/>
                </a:solidFill>
              </a:rPr>
              <a:t>"보유 기간·호재 신뢰도 따라"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074920" y="5074920"/>
            <a:ext cx="393192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r>
              <a:rPr sz="850" b="0">
                <a:solidFill>
                  <a:srgbClr val="777780"/>
                </a:solidFill>
              </a:rPr>
              <a:t>사용자 직접 가중치 조정 권장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074920" y="5257800"/>
            <a:ext cx="393192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r>
              <a:rPr sz="950" b="1">
                <a:solidFill>
                  <a:srgbClr val="1E2761"/>
                </a:solidFill>
              </a:rPr>
              <a:t>→ 종합 ★3.66 (균등)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418320" y="1965960"/>
            <a:ext cx="237744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r>
              <a:rPr sz="1400" b="1">
                <a:solidFill>
                  <a:srgbClr val="1E2761"/>
                </a:solidFill>
              </a:rPr>
              <a:t>당신의 가중치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418320" y="2286000"/>
            <a:ext cx="457200" cy="36576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418320" y="2468880"/>
            <a:ext cx="237744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r>
              <a:rPr sz="1000" b="1">
                <a:solidFill>
                  <a:srgbClr val="1E2761"/>
                </a:solidFill>
              </a:rPr>
              <a:t>시세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9418320" y="2715768"/>
            <a:ext cx="2377440" cy="164592"/>
          </a:xfrm>
          <a:prstGeom prst="roundRect">
            <a:avLst>
              <a:gd name="adj" fmla="val 40000"/>
            </a:avLst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9418320" y="2715768"/>
            <a:ext cx="950976" cy="164592"/>
          </a:xfrm>
          <a:prstGeom prst="roundRect">
            <a:avLst>
              <a:gd name="adj" fmla="val 40000"/>
            </a:avLst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418320" y="2926080"/>
            <a:ext cx="2377440" cy="2286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/>
            <a:r>
              <a:rPr sz="900" b="0">
                <a:solidFill>
                  <a:srgbClr val="777780"/>
                </a:solidFill>
              </a:rPr>
              <a:t>20%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418320" y="3200400"/>
            <a:ext cx="237744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r>
              <a:rPr sz="1000" b="1">
                <a:solidFill>
                  <a:srgbClr val="1E2761"/>
                </a:solidFill>
              </a:rPr>
              <a:t>입지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9418320" y="3447288"/>
            <a:ext cx="2377440" cy="164592"/>
          </a:xfrm>
          <a:prstGeom prst="roundRect">
            <a:avLst>
              <a:gd name="adj" fmla="val 40000"/>
            </a:avLst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9418320" y="3447288"/>
            <a:ext cx="950976" cy="164592"/>
          </a:xfrm>
          <a:prstGeom prst="roundRect">
            <a:avLst>
              <a:gd name="adj" fmla="val 40000"/>
            </a:avLst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418320" y="3657600"/>
            <a:ext cx="2377440" cy="2286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/>
            <a:r>
              <a:rPr sz="900" b="0">
                <a:solidFill>
                  <a:srgbClr val="777780"/>
                </a:solidFill>
              </a:rPr>
              <a:t>20%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418320" y="3931920"/>
            <a:ext cx="237744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r>
              <a:rPr sz="1000" b="1">
                <a:solidFill>
                  <a:srgbClr val="1E2761"/>
                </a:solidFill>
              </a:rPr>
              <a:t>생활편의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9418320" y="4178808"/>
            <a:ext cx="2377440" cy="164592"/>
          </a:xfrm>
          <a:prstGeom prst="roundRect">
            <a:avLst>
              <a:gd name="adj" fmla="val 40000"/>
            </a:avLst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9418320" y="4178808"/>
            <a:ext cx="713232" cy="164592"/>
          </a:xfrm>
          <a:prstGeom prst="roundRect">
            <a:avLst>
              <a:gd name="adj" fmla="val 40000"/>
            </a:avLst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418320" y="4389120"/>
            <a:ext cx="2377440" cy="2286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/>
            <a:r>
              <a:rPr sz="900" b="0">
                <a:solidFill>
                  <a:srgbClr val="777780"/>
                </a:solidFill>
              </a:rPr>
              <a:t>15%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418320" y="4663440"/>
            <a:ext cx="237744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r>
              <a:rPr sz="1000" b="1">
                <a:solidFill>
                  <a:srgbClr val="1E2761"/>
                </a:solidFill>
              </a:rPr>
              <a:t>미래가치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9418320" y="4910327"/>
            <a:ext cx="2377440" cy="164592"/>
          </a:xfrm>
          <a:prstGeom prst="roundRect">
            <a:avLst>
              <a:gd name="adj" fmla="val 40000"/>
            </a:avLst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9418320" y="4910327"/>
            <a:ext cx="1426464" cy="164592"/>
          </a:xfrm>
          <a:prstGeom prst="roundRect">
            <a:avLst>
              <a:gd name="adj" fmla="val 40000"/>
            </a:avLst>
          </a:prstGeom>
          <a:solidFill>
            <a:srgbClr val="F5C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9418320" y="5120640"/>
            <a:ext cx="2377440" cy="2286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/>
            <a:r>
              <a:rPr sz="900" b="0">
                <a:solidFill>
                  <a:srgbClr val="777780"/>
                </a:solidFill>
              </a:rPr>
              <a:t>30%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418320" y="5394959"/>
            <a:ext cx="237744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r>
              <a:rPr sz="1000" b="1">
                <a:solidFill>
                  <a:srgbClr val="1E2761"/>
                </a:solidFill>
              </a:rPr>
              <a:t>리스크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9418320" y="5641848"/>
            <a:ext cx="2377440" cy="164592"/>
          </a:xfrm>
          <a:prstGeom prst="roundRect">
            <a:avLst>
              <a:gd name="adj" fmla="val 40000"/>
            </a:avLst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ounded Rectangle 75"/>
          <p:cNvSpPr/>
          <p:nvPr/>
        </p:nvSpPr>
        <p:spPr>
          <a:xfrm>
            <a:off x="9418320" y="5641848"/>
            <a:ext cx="713232" cy="164592"/>
          </a:xfrm>
          <a:prstGeom prst="roundRect">
            <a:avLst>
              <a:gd name="adj" fmla="val 40000"/>
            </a:avLst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9418320" y="5852159"/>
            <a:ext cx="2377440" cy="2286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/>
            <a:r>
              <a:rPr sz="900" b="0">
                <a:solidFill>
                  <a:srgbClr val="777780"/>
                </a:solidFill>
              </a:rPr>
              <a:t>15%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457200" y="5989320"/>
            <a:ext cx="11338560" cy="86868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85800" y="6080760"/>
            <a:ext cx="10789920" cy="3200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r>
              <a:rPr sz="1100" b="1">
                <a:solidFill>
                  <a:srgbClr val="F5C047"/>
                </a:solidFill>
              </a:rPr>
              <a:t>💬  최종 결정 가이드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85800" y="6355080"/>
            <a:ext cx="10789920" cy="4572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r>
              <a:rPr sz="1200" b="1">
                <a:solidFill>
                  <a:srgbClr val="FFFFFF"/>
                </a:solidFill>
              </a:rPr>
              <a:t>"당신의 우선순위(미래가치 30%)에선 양호한 매물입니다. AI는 분석만, 매수 결정은 본인이.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85800" y="6583680"/>
            <a:ext cx="1078992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r>
              <a:rPr sz="1200" b="1">
                <a:solidFill>
                  <a:srgbClr val="FFFFFF"/>
                </a:solidFill>
              </a:rPr>
              <a:t>가중치를 조정하면서 자기 우선순위를 자각하세요."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